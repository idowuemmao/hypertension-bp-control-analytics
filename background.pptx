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1906250"/>
  <p:notesSz cx="12192000" cy="6858000"/>
  <p:defaultTextStyle>
    <a:lvl1pPr marL="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1pPr>
    <a:lvl2pPr marL="72462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2pPr>
    <a:lvl3pPr marL="144924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3pPr>
    <a:lvl4pPr marL="217386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4pPr>
    <a:lvl5pPr marL="289848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5pPr>
    <a:lvl6pPr marL="362310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6pPr>
    <a:lvl7pPr marL="434772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7pPr>
    <a:lvl8pPr marL="507234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8pPr>
    <a:lvl9pPr marL="5796962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FA5"/>
    <a:srgbClr val="698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8" y="-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3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72462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144924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217386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289848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362310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434772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507234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5796962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5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519" rtl="0" eaLnBrk="1" latinLnBrk="0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45" indent="-342945" algn="l" defTabSz="914519" rtl="0" eaLnBrk="1" latinLnBrk="0" hangingPunct="1">
        <a:spcBef>
          <a:spcPct val="20000"/>
        </a:spcBef>
        <a:buFont typeface="Arial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3047" indent="-285786" algn="l" defTabSz="914519" rtl="0" eaLnBrk="1" latinLnBrk="0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148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409" indent="-228630" algn="l" defTabSz="9145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68" indent="-228630" algn="l" defTabSz="9145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2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188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44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0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1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19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78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39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98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55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1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07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12"/>
            <a:ext cx="18288000" cy="11859639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        3-`</a:t>
            </a:r>
            <a:endParaRPr lang="en-NG" dirty="0"/>
          </a:p>
        </p:txBody>
      </p:sp>
      <p:sp>
        <p:nvSpPr>
          <p:cNvPr id="3" name="Shape 1"/>
          <p:cNvSpPr/>
          <p:nvPr/>
        </p:nvSpPr>
        <p:spPr>
          <a:xfrm>
            <a:off x="0" y="2743"/>
            <a:ext cx="18288000" cy="486648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" y="1"/>
            <a:ext cx="68750" cy="486649"/>
          </a:xfrm>
          <a:prstGeom prst="rect">
            <a:avLst/>
          </a:prstGeom>
          <a:solidFill>
            <a:srgbClr val="4DB6F7"/>
          </a:solidFill>
          <a:ln w="12700">
            <a:solidFill>
              <a:srgbClr val="4DB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758" y="15708"/>
            <a:ext cx="11687820" cy="56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CARDIOLOGY CENTER  —  Clinical Analytics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921576" y="-46324"/>
            <a:ext cx="6050165" cy="61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8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Patients  ·  Jan – Dec 2024  ·  Power BI Dashboard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7507" y="605298"/>
            <a:ext cx="11742821" cy="743418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2508" y="666792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2511" y="640204"/>
            <a:ext cx="2543820" cy="37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5011" y="920459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8829" y="697102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133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1343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HEIRARCHY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1384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7659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016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0174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4267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76492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8899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9005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17150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05322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7507" y="1474471"/>
            <a:ext cx="17792986" cy="711578"/>
          </a:xfrm>
          <a:prstGeom prst="rect">
            <a:avLst/>
          </a:prstGeom>
          <a:solidFill>
            <a:srgbClr val="D5E8F4">
              <a:alpha val="80000"/>
            </a:srgbClr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7507" y="1474471"/>
            <a:ext cx="82502" cy="71157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012" y="1474471"/>
            <a:ext cx="1512541" cy="711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0A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7507" y="2278286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6153" y="2262480"/>
            <a:ext cx="3478845" cy="79062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511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34445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58752" y="2262488"/>
            <a:ext cx="3478845" cy="7906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9005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Control Rate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21383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27021" y="2262488"/>
            <a:ext cx="3478845" cy="7906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5487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Patients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008322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1009615" y="2262488"/>
            <a:ext cx="3478845" cy="7906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41970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Standard-Risk Control Rate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4595260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4606532" y="2262487"/>
            <a:ext cx="3478845" cy="7906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718450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Systolic Reduction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7507" y="3667863"/>
            <a:ext cx="4400120" cy="320484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85011" y="3720512"/>
            <a:ext cx="360398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drug — Diabetic patients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85011" y="3925410"/>
            <a:ext cx="4125113" cy="2255951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33185" y="3667865"/>
            <a:ext cx="4400120" cy="320484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872989" y="3720512"/>
            <a:ext cx="3331411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drug — Dyslipidemia patients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872217" y="3925422"/>
            <a:ext cx="4125113" cy="2255951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04541" y="3667865"/>
            <a:ext cx="4400120" cy="320484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2127833" y="3778575"/>
            <a:ext cx="893774" cy="25300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127833" y="3778575"/>
            <a:ext cx="893774" cy="253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13846633" y="3720519"/>
            <a:ext cx="3740102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drug — Obesity patients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3846629" y="3925422"/>
            <a:ext cx="4125113" cy="2255951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68114" y="6952111"/>
            <a:ext cx="8623205" cy="3578113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4605614" y="7024989"/>
            <a:ext cx="8387729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Profile vs BP Control — Drug Class Interaction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605614" y="7235301"/>
            <a:ext cx="8387729" cy="2767250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227863" y="6952111"/>
            <a:ext cx="4857511" cy="3578113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13376065" y="7024996"/>
            <a:ext cx="4060944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burden vs control rate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3369950" y="7235301"/>
            <a:ext cx="4601792" cy="2767250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0" y="11621619"/>
            <a:ext cx="18288000" cy="284632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7507" y="11621619"/>
            <a:ext cx="12375338" cy="2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5A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Cardiology Center  |  Confidential Clinical Report  |  Page 2 of 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605319" y="11621621"/>
            <a:ext cx="6435176" cy="255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5A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Hypertension_Cardiology_Center_Dataset.xlsx  ·  350 rows · 16 columns</a:t>
            </a:r>
            <a:endParaRPr lang="en-US" sz="800" dirty="0"/>
          </a:p>
        </p:txBody>
      </p:sp>
      <p:sp>
        <p:nvSpPr>
          <p:cNvPr id="95" name="Shape 65">
            <a:extLst>
              <a:ext uri="{FF2B5EF4-FFF2-40B4-BE49-F238E27FC236}">
                <a16:creationId xmlns:a16="http://schemas.microsoft.com/office/drawing/2014/main" id="{32C0CA1B-1B28-47F4-B85D-FA2D206A9BCB}"/>
              </a:ext>
            </a:extLst>
          </p:cNvPr>
          <p:cNvSpPr/>
          <p:nvPr/>
        </p:nvSpPr>
        <p:spPr>
          <a:xfrm>
            <a:off x="9218863" y="3667865"/>
            <a:ext cx="4400120" cy="320484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7" name="Text 68">
            <a:extLst>
              <a:ext uri="{FF2B5EF4-FFF2-40B4-BE49-F238E27FC236}">
                <a16:creationId xmlns:a16="http://schemas.microsoft.com/office/drawing/2014/main" id="{F9F94D3D-D6F6-4576-8A4B-FB9551451C72}"/>
              </a:ext>
            </a:extLst>
          </p:cNvPr>
          <p:cNvSpPr/>
          <p:nvPr/>
        </p:nvSpPr>
        <p:spPr>
          <a:xfrm>
            <a:off x="9359423" y="3720519"/>
            <a:ext cx="3483429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drug — CKD patients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98" name="Shape 69">
            <a:extLst>
              <a:ext uri="{FF2B5EF4-FFF2-40B4-BE49-F238E27FC236}">
                <a16:creationId xmlns:a16="http://schemas.microsoft.com/office/drawing/2014/main" id="{B67C8D21-1A1C-4B46-BB7B-674B6DA9214D}"/>
              </a:ext>
            </a:extLst>
          </p:cNvPr>
          <p:cNvSpPr/>
          <p:nvPr/>
        </p:nvSpPr>
        <p:spPr>
          <a:xfrm>
            <a:off x="9359423" y="3925422"/>
            <a:ext cx="4125113" cy="2255951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00" name="Shape 83">
            <a:extLst>
              <a:ext uri="{FF2B5EF4-FFF2-40B4-BE49-F238E27FC236}">
                <a16:creationId xmlns:a16="http://schemas.microsoft.com/office/drawing/2014/main" id="{6C65C667-4E52-415C-97CE-4E2170B6F063}"/>
              </a:ext>
            </a:extLst>
          </p:cNvPr>
          <p:cNvSpPr/>
          <p:nvPr/>
        </p:nvSpPr>
        <p:spPr>
          <a:xfrm>
            <a:off x="247508" y="6952104"/>
            <a:ext cx="4122629" cy="3578113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1" name="Text 86">
            <a:extLst>
              <a:ext uri="{FF2B5EF4-FFF2-40B4-BE49-F238E27FC236}">
                <a16:creationId xmlns:a16="http://schemas.microsoft.com/office/drawing/2014/main" id="{154709F8-558F-45A4-9E1E-5837250E0E9F}"/>
              </a:ext>
            </a:extLst>
          </p:cNvPr>
          <p:cNvSpPr/>
          <p:nvPr/>
        </p:nvSpPr>
        <p:spPr>
          <a:xfrm>
            <a:off x="395708" y="7024984"/>
            <a:ext cx="3958774" cy="18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Drug Classes Deliver the Best Hypertension Outcomes?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102" name="Shape 87">
            <a:extLst>
              <a:ext uri="{FF2B5EF4-FFF2-40B4-BE49-F238E27FC236}">
                <a16:creationId xmlns:a16="http://schemas.microsoft.com/office/drawing/2014/main" id="{FA7E7766-C4E9-4DD3-85BE-9CC15BFCA2B6}"/>
              </a:ext>
            </a:extLst>
          </p:cNvPr>
          <p:cNvSpPr/>
          <p:nvPr/>
        </p:nvSpPr>
        <p:spPr>
          <a:xfrm>
            <a:off x="427792" y="7235292"/>
            <a:ext cx="3817671" cy="2767250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04" name="Shape 83">
            <a:extLst>
              <a:ext uri="{FF2B5EF4-FFF2-40B4-BE49-F238E27FC236}">
                <a16:creationId xmlns:a16="http://schemas.microsoft.com/office/drawing/2014/main" id="{19680669-1348-4129-8187-D8CFF666F029}"/>
              </a:ext>
            </a:extLst>
          </p:cNvPr>
          <p:cNvSpPr/>
          <p:nvPr/>
        </p:nvSpPr>
        <p:spPr>
          <a:xfrm>
            <a:off x="247508" y="10609617"/>
            <a:ext cx="17837866" cy="93128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12"/>
            <a:ext cx="18288000" cy="11859639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        3-`</a:t>
            </a:r>
            <a:endParaRPr lang="en-NG" dirty="0"/>
          </a:p>
        </p:txBody>
      </p:sp>
      <p:sp>
        <p:nvSpPr>
          <p:cNvPr id="3" name="Shape 1"/>
          <p:cNvSpPr/>
          <p:nvPr/>
        </p:nvSpPr>
        <p:spPr>
          <a:xfrm>
            <a:off x="0" y="2743"/>
            <a:ext cx="18288000" cy="486648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" y="1"/>
            <a:ext cx="68750" cy="486649"/>
          </a:xfrm>
          <a:prstGeom prst="rect">
            <a:avLst/>
          </a:prstGeom>
          <a:solidFill>
            <a:srgbClr val="4DB6F7"/>
          </a:solidFill>
          <a:ln w="12700">
            <a:solidFill>
              <a:srgbClr val="4DB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758" y="15708"/>
            <a:ext cx="11687820" cy="56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CARDIOLOGY CENTER  —  Clinical Analytics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921576" y="-46324"/>
            <a:ext cx="6050165" cy="61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8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Patients  ·  Jan – Dec 2024  ·  Power BI Dashboard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7507" y="605298"/>
            <a:ext cx="11742821" cy="743418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2508" y="666792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2511" y="640204"/>
            <a:ext cx="2543820" cy="37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5011" y="920459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8829" y="697102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133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1343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HEIRARCHY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1384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7659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016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0174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4267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76492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88998" y="666804"/>
            <a:ext cx="2818827" cy="587506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9005" y="666796"/>
            <a:ext cx="2543820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kern="0" spc="5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171501" y="920471"/>
            <a:ext cx="1993805" cy="27432"/>
          </a:xfrm>
          <a:prstGeom prst="rect">
            <a:avLst/>
          </a:prstGeom>
          <a:solidFill>
            <a:srgbClr val="B5D4F4"/>
          </a:solidFill>
          <a:ln w="12700">
            <a:noFill/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05322" y="697103"/>
            <a:ext cx="247507" cy="3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7507" y="1474471"/>
            <a:ext cx="17792986" cy="711578"/>
          </a:xfrm>
          <a:prstGeom prst="rect">
            <a:avLst/>
          </a:prstGeom>
          <a:solidFill>
            <a:srgbClr val="D5E8F4">
              <a:alpha val="80000"/>
            </a:srgbClr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7507" y="1474471"/>
            <a:ext cx="82502" cy="71157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012" y="1474471"/>
            <a:ext cx="1512541" cy="711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0A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7507" y="2278286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6153" y="2262480"/>
            <a:ext cx="3478845" cy="79062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511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34445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58752" y="2262488"/>
            <a:ext cx="3478845" cy="7906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9005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Control Rate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21383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27021" y="2262488"/>
            <a:ext cx="3478845" cy="7906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5487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Patients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008322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1009615" y="2262488"/>
            <a:ext cx="3478845" cy="7906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41970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Standard-Risk Control Rate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4595260" y="2278291"/>
            <a:ext cx="3506346" cy="1310895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4606532" y="2262487"/>
            <a:ext cx="3478845" cy="7906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718450" y="2341540"/>
            <a:ext cx="3107585" cy="31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30" dirty="0">
                <a:solidFill>
                  <a:srgbClr val="5A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Systolic Reduction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7506" y="3667862"/>
            <a:ext cx="5710503" cy="2802379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85011" y="3720512"/>
            <a:ext cx="360398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stratification matrix</a:t>
            </a:r>
          </a:p>
        </p:txBody>
      </p:sp>
      <p:sp>
        <p:nvSpPr>
          <p:cNvPr id="65" name="Shape 63"/>
          <p:cNvSpPr/>
          <p:nvPr/>
        </p:nvSpPr>
        <p:spPr>
          <a:xfrm>
            <a:off x="385010" y="3925410"/>
            <a:ext cx="5462765" cy="2456340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50165" y="3667864"/>
            <a:ext cx="2443870" cy="2802377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5725563" y="3667864"/>
            <a:ext cx="2360048" cy="2802377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2127833" y="3778575"/>
            <a:ext cx="893774" cy="253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0" y="11621619"/>
            <a:ext cx="18288000" cy="284632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7507" y="11621619"/>
            <a:ext cx="12375338" cy="2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5A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 Cardiology Center  |  Confidential Clinical Report  |  Page 1 of 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605319" y="11621621"/>
            <a:ext cx="6435176" cy="255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5A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Hypertension_Cardiology_Center_Dataset.xlsx  ·  350 rows · 16 columns</a:t>
            </a:r>
            <a:endParaRPr lang="en-US" sz="800" dirty="0"/>
          </a:p>
        </p:txBody>
      </p:sp>
      <p:sp>
        <p:nvSpPr>
          <p:cNvPr id="95" name="Shape 65">
            <a:extLst>
              <a:ext uri="{FF2B5EF4-FFF2-40B4-BE49-F238E27FC236}">
                <a16:creationId xmlns:a16="http://schemas.microsoft.com/office/drawing/2014/main" id="{32C0CA1B-1B28-47F4-B85D-FA2D206A9BCB}"/>
              </a:ext>
            </a:extLst>
          </p:cNvPr>
          <p:cNvSpPr/>
          <p:nvPr/>
        </p:nvSpPr>
        <p:spPr>
          <a:xfrm>
            <a:off x="8611992" y="3667864"/>
            <a:ext cx="7021415" cy="2802377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7" name="Text 68">
            <a:extLst>
              <a:ext uri="{FF2B5EF4-FFF2-40B4-BE49-F238E27FC236}">
                <a16:creationId xmlns:a16="http://schemas.microsoft.com/office/drawing/2014/main" id="{F9F94D3D-D6F6-4576-8A4B-FB9551451C72}"/>
              </a:ext>
            </a:extLst>
          </p:cNvPr>
          <p:cNvSpPr/>
          <p:nvPr/>
        </p:nvSpPr>
        <p:spPr>
          <a:xfrm>
            <a:off x="8729200" y="3741442"/>
            <a:ext cx="3483429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drug — CKD patients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98" name="Shape 69">
            <a:extLst>
              <a:ext uri="{FF2B5EF4-FFF2-40B4-BE49-F238E27FC236}">
                <a16:creationId xmlns:a16="http://schemas.microsoft.com/office/drawing/2014/main" id="{B67C8D21-1A1C-4B46-BB7B-674B6DA9214D}"/>
              </a:ext>
            </a:extLst>
          </p:cNvPr>
          <p:cNvSpPr/>
          <p:nvPr/>
        </p:nvSpPr>
        <p:spPr>
          <a:xfrm>
            <a:off x="8733642" y="3925423"/>
            <a:ext cx="6766560" cy="2456328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00" name="Shape 83">
            <a:extLst>
              <a:ext uri="{FF2B5EF4-FFF2-40B4-BE49-F238E27FC236}">
                <a16:creationId xmlns:a16="http://schemas.microsoft.com/office/drawing/2014/main" id="{6C65C667-4E52-415C-97CE-4E2170B6F063}"/>
              </a:ext>
            </a:extLst>
          </p:cNvPr>
          <p:cNvSpPr/>
          <p:nvPr/>
        </p:nvSpPr>
        <p:spPr>
          <a:xfrm>
            <a:off x="247508" y="6596820"/>
            <a:ext cx="17854098" cy="3932077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1" name="Text 86">
            <a:extLst>
              <a:ext uri="{FF2B5EF4-FFF2-40B4-BE49-F238E27FC236}">
                <a16:creationId xmlns:a16="http://schemas.microsoft.com/office/drawing/2014/main" id="{154709F8-558F-45A4-9E1E-5837250E0E9F}"/>
              </a:ext>
            </a:extLst>
          </p:cNvPr>
          <p:cNvSpPr/>
          <p:nvPr/>
        </p:nvSpPr>
        <p:spPr>
          <a:xfrm>
            <a:off x="385011" y="6662877"/>
            <a:ext cx="341432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impact on control rate</a:t>
            </a:r>
            <a:endParaRPr lang="en-US" sz="1000" dirty="0">
              <a:solidFill>
                <a:srgbClr val="185FA5"/>
              </a:solidFill>
            </a:endParaRPr>
          </a:p>
        </p:txBody>
      </p:sp>
      <p:sp>
        <p:nvSpPr>
          <p:cNvPr id="102" name="Shape 87">
            <a:extLst>
              <a:ext uri="{FF2B5EF4-FFF2-40B4-BE49-F238E27FC236}">
                <a16:creationId xmlns:a16="http://schemas.microsoft.com/office/drawing/2014/main" id="{FA7E7766-C4E9-4DD3-85BE-9CC15BFCA2B6}"/>
              </a:ext>
            </a:extLst>
          </p:cNvPr>
          <p:cNvSpPr/>
          <p:nvPr/>
        </p:nvSpPr>
        <p:spPr>
          <a:xfrm>
            <a:off x="385011" y="6867819"/>
            <a:ext cx="17586731" cy="3563960"/>
          </a:xfrm>
          <a:prstGeom prst="rect">
            <a:avLst/>
          </a:prstGeom>
          <a:solidFill>
            <a:srgbClr val="F5F8FC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04" name="Shape 83">
            <a:extLst>
              <a:ext uri="{FF2B5EF4-FFF2-40B4-BE49-F238E27FC236}">
                <a16:creationId xmlns:a16="http://schemas.microsoft.com/office/drawing/2014/main" id="{19680669-1348-4129-8187-D8CFF666F029}"/>
              </a:ext>
            </a:extLst>
          </p:cNvPr>
          <p:cNvSpPr/>
          <p:nvPr/>
        </p:nvSpPr>
        <p:spPr>
          <a:xfrm>
            <a:off x="247508" y="10609617"/>
            <a:ext cx="17837866" cy="931282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973277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214</Words>
  <Application>Microsoft Office PowerPoint</Application>
  <PresentationFormat>Custom</PresentationFormat>
  <Paragraphs>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 Power BI — Background &amp; Color Template</dc:title>
  <dc:subject>PptxGenJS Presentation</dc:subject>
  <dc:creator>Hypertension Cardiology Center Analytics</dc:creator>
  <cp:lastModifiedBy>Emmanuel Idowu</cp:lastModifiedBy>
  <cp:revision>23</cp:revision>
  <dcterms:created xsi:type="dcterms:W3CDTF">2026-05-05T18:17:03Z</dcterms:created>
  <dcterms:modified xsi:type="dcterms:W3CDTF">2026-05-06T22:24:16Z</dcterms:modified>
</cp:coreProperties>
</file>